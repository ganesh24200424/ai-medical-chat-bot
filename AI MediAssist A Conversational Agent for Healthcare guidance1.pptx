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70" r:id="rId2"/>
    <p:sldId id="259" r:id="rId3"/>
    <p:sldId id="286" r:id="rId4"/>
    <p:sldId id="258" r:id="rId5"/>
    <p:sldId id="289" r:id="rId6"/>
    <p:sldId id="290" r:id="rId7"/>
    <p:sldId id="263" r:id="rId8"/>
    <p:sldId id="265" r:id="rId9"/>
    <p:sldId id="279" r:id="rId10"/>
    <p:sldId id="294" r:id="rId11"/>
    <p:sldId id="292" r:id="rId12"/>
    <p:sldId id="288" r:id="rId13"/>
    <p:sldId id="293" r:id="rId14"/>
    <p:sldId id="264" r:id="rId15"/>
    <p:sldId id="295" r:id="rId16"/>
    <p:sldId id="287" r:id="rId17"/>
    <p:sldId id="285"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36DC15-E4F6-49B1-9162-DF21D533AD34}"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F4DD5-173E-4FEA-9D9F-06978F1BF5C6}" type="slidenum">
              <a:rPr lang="en-US" smtClean="0"/>
              <a:t>‹#›</a:t>
            </a:fld>
            <a:endParaRPr lang="en-US"/>
          </a:p>
        </p:txBody>
      </p:sp>
    </p:spTree>
    <p:extLst>
      <p:ext uri="{BB962C8B-B14F-4D97-AF65-F5344CB8AC3E}">
        <p14:creationId xmlns:p14="http://schemas.microsoft.com/office/powerpoint/2010/main" val="3335685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F0BFB18-0353-437D-9F2A-E84CF042F864}" type="datetimeFigureOut">
              <a:rPr lang="en-IN" smtClean="0"/>
              <a:t>18-12-2025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1273738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BFB18-0353-437D-9F2A-E84CF042F864}"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2072507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BFB18-0353-437D-9F2A-E84CF042F864}"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3825836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2430102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BFB18-0353-437D-9F2A-E84CF042F864}" type="datetimeFigureOut">
              <a:rPr lang="en-IN" smtClean="0"/>
              <a:t>18-12-2025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175014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BFB18-0353-437D-9F2A-E84CF042F864}" type="datetimeFigureOut">
              <a:rPr lang="en-IN" smtClean="0"/>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216735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BFB18-0353-437D-9F2A-E84CF042F864}" type="datetimeFigureOut">
              <a:rPr lang="en-IN" smtClean="0"/>
              <a:t>18-12-2025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3825302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93611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936579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4011752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1746057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288468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BFB18-0353-437D-9F2A-E84CF042F864}"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1520000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0BFB18-0353-437D-9F2A-E84CF042F864}" type="datetimeFigureOut">
              <a:rPr lang="en-IN" smtClean="0"/>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704421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0BFB18-0353-437D-9F2A-E84CF042F864}" type="datetimeFigureOut">
              <a:rPr lang="en-IN" smtClean="0"/>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2987721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BFB18-0353-437D-9F2A-E84CF042F864}"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1783492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BFB18-0353-437D-9F2A-E84CF042F864}"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BC29B2-9729-4BA9-A2A4-8B881CC38C78}" type="slidenum">
              <a:rPr lang="en-IN" smtClean="0"/>
              <a:t>‹#›</a:t>
            </a:fld>
            <a:endParaRPr lang="en-IN"/>
          </a:p>
        </p:txBody>
      </p:sp>
    </p:spTree>
    <p:extLst>
      <p:ext uri="{BB962C8B-B14F-4D97-AF65-F5344CB8AC3E}">
        <p14:creationId xmlns:p14="http://schemas.microsoft.com/office/powerpoint/2010/main" val="311387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F0BFB18-0353-437D-9F2A-E84CF042F864}" type="datetimeFigureOut">
              <a:rPr lang="en-IN" smtClean="0"/>
              <a:t>18-12-2025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9BC29B2-9729-4BA9-A2A4-8B881CC38C78}" type="slidenum">
              <a:rPr lang="en-IN" smtClean="0"/>
              <a:t>‹#›</a:t>
            </a:fld>
            <a:endParaRPr lang="en-IN"/>
          </a:p>
        </p:txBody>
      </p:sp>
    </p:spTree>
    <p:extLst>
      <p:ext uri="{BB962C8B-B14F-4D97-AF65-F5344CB8AC3E}">
        <p14:creationId xmlns:p14="http://schemas.microsoft.com/office/powerpoint/2010/main" val="48270622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BB4DB-79BE-85FB-8225-0C3A8A5BBCC7}"/>
              </a:ext>
            </a:extLst>
          </p:cNvPr>
          <p:cNvSpPr>
            <a:spLocks noGrp="1"/>
          </p:cNvSpPr>
          <p:nvPr>
            <p:ph type="title"/>
          </p:nvPr>
        </p:nvSpPr>
        <p:spPr>
          <a:xfrm>
            <a:off x="2036959" y="2592200"/>
            <a:ext cx="2403065" cy="301659"/>
          </a:xfrm>
        </p:spPr>
        <p:txBody>
          <a:bodyPr>
            <a:noAutofit/>
          </a:bodyPr>
          <a:lstStyle/>
          <a:p>
            <a:r>
              <a:rPr lang="en-US" sz="2400" dirty="0">
                <a:solidFill>
                  <a:srgbClr val="002060"/>
                </a:solidFill>
                <a:latin typeface="Times New Roman" panose="02020603050405020304" pitchFamily="18" charset="0"/>
                <a:cs typeface="Times New Roman" panose="02020603050405020304" pitchFamily="18" charset="0"/>
              </a:rPr>
              <a:t>Team details</a:t>
            </a:r>
            <a:endParaRPr lang="en-IN"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D5123FDE-D3CC-4925-3D50-D0C5984EA441}"/>
              </a:ext>
            </a:extLst>
          </p:cNvPr>
          <p:cNvGraphicFramePr>
            <a:graphicFrameLocks noGrp="1"/>
          </p:cNvGraphicFramePr>
          <p:nvPr>
            <p:ph idx="1"/>
            <p:extLst>
              <p:ext uri="{D42A27DB-BD31-4B8C-83A1-F6EECF244321}">
                <p14:modId xmlns:p14="http://schemas.microsoft.com/office/powerpoint/2010/main" val="3055984307"/>
              </p:ext>
            </p:extLst>
          </p:nvPr>
        </p:nvGraphicFramePr>
        <p:xfrm>
          <a:off x="2036959" y="3082565"/>
          <a:ext cx="6852517" cy="3181048"/>
        </p:xfrm>
        <a:graphic>
          <a:graphicData uri="http://schemas.openxmlformats.org/drawingml/2006/table">
            <a:tbl>
              <a:tblPr firstRow="1" bandRow="1">
                <a:tableStyleId>{5C22544A-7EE6-4342-B048-85BDC9FD1C3A}</a:tableStyleId>
              </a:tblPr>
              <a:tblGrid>
                <a:gridCol w="911956">
                  <a:extLst>
                    <a:ext uri="{9D8B030D-6E8A-4147-A177-3AD203B41FA5}">
                      <a16:colId xmlns:a16="http://schemas.microsoft.com/office/drawing/2014/main" val="617067760"/>
                    </a:ext>
                  </a:extLst>
                </a:gridCol>
                <a:gridCol w="3656389">
                  <a:extLst>
                    <a:ext uri="{9D8B030D-6E8A-4147-A177-3AD203B41FA5}">
                      <a16:colId xmlns:a16="http://schemas.microsoft.com/office/drawing/2014/main" val="2210892167"/>
                    </a:ext>
                  </a:extLst>
                </a:gridCol>
                <a:gridCol w="2284172">
                  <a:extLst>
                    <a:ext uri="{9D8B030D-6E8A-4147-A177-3AD203B41FA5}">
                      <a16:colId xmlns:a16="http://schemas.microsoft.com/office/drawing/2014/main" val="2188227020"/>
                    </a:ext>
                  </a:extLst>
                </a:gridCol>
              </a:tblGrid>
              <a:tr h="565608">
                <a:tc>
                  <a:txBody>
                    <a:bodyPr/>
                    <a:lstStyle/>
                    <a:p>
                      <a:r>
                        <a:rPr lang="en-US" sz="2000" dirty="0">
                          <a:solidFill>
                            <a:schemeClr val="bg1"/>
                          </a:solidFill>
                          <a:latin typeface="Times New Roman" panose="02020603050405020304" pitchFamily="18" charset="0"/>
                          <a:cs typeface="Times New Roman" panose="02020603050405020304" pitchFamily="18" charset="0"/>
                        </a:rPr>
                        <a:t>S.NO</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NAME</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REG.NO</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extLst>
                  <a:ext uri="{0D108BD9-81ED-4DB2-BD59-A6C34878D82A}">
                    <a16:rowId xmlns:a16="http://schemas.microsoft.com/office/drawing/2014/main" val="3624498168"/>
                  </a:ext>
                </a:extLst>
              </a:tr>
              <a:tr h="653860">
                <a:tc>
                  <a:txBody>
                    <a:bodyPr/>
                    <a:lstStyle/>
                    <a:p>
                      <a:r>
                        <a:rPr lang="en-US" sz="2000" dirty="0">
                          <a:solidFill>
                            <a:schemeClr val="bg1"/>
                          </a:solidFill>
                          <a:latin typeface="Times New Roman" panose="02020603050405020304" pitchFamily="18" charset="0"/>
                          <a:cs typeface="Times New Roman" panose="02020603050405020304" pitchFamily="18" charset="0"/>
                        </a:rPr>
                        <a:t>1</a:t>
                      </a: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G. GANESH</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99220042094</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extLst>
                  <a:ext uri="{0D108BD9-81ED-4DB2-BD59-A6C34878D82A}">
                    <a16:rowId xmlns:a16="http://schemas.microsoft.com/office/drawing/2014/main" val="1275850089"/>
                  </a:ext>
                </a:extLst>
              </a:tr>
              <a:tr h="653860">
                <a:tc>
                  <a:txBody>
                    <a:bodyPr/>
                    <a:lstStyle/>
                    <a:p>
                      <a:r>
                        <a:rPr lang="en-US" sz="2000" dirty="0">
                          <a:solidFill>
                            <a:schemeClr val="bg1"/>
                          </a:solidFill>
                          <a:latin typeface="Times New Roman" panose="02020603050405020304" pitchFamily="18" charset="0"/>
                          <a:cs typeface="Times New Roman" panose="02020603050405020304" pitchFamily="18" charset="0"/>
                        </a:rPr>
                        <a:t>2</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S. HARI</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99220041678</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extLst>
                  <a:ext uri="{0D108BD9-81ED-4DB2-BD59-A6C34878D82A}">
                    <a16:rowId xmlns:a16="http://schemas.microsoft.com/office/drawing/2014/main" val="2406766547"/>
                  </a:ext>
                </a:extLst>
              </a:tr>
              <a:tr h="653860">
                <a:tc>
                  <a:txBody>
                    <a:bodyPr/>
                    <a:lstStyle/>
                    <a:p>
                      <a:r>
                        <a:rPr lang="en-US" sz="2000" dirty="0">
                          <a:solidFill>
                            <a:schemeClr val="bg1"/>
                          </a:solidFill>
                          <a:latin typeface="Times New Roman" panose="02020603050405020304" pitchFamily="18" charset="0"/>
                          <a:cs typeface="Times New Roman" panose="02020603050405020304" pitchFamily="18" charset="0"/>
                        </a:rPr>
                        <a:t>3</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E.V. KRISHNA PRASAD</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99220042151</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extLst>
                  <a:ext uri="{0D108BD9-81ED-4DB2-BD59-A6C34878D82A}">
                    <a16:rowId xmlns:a16="http://schemas.microsoft.com/office/drawing/2014/main" val="919340970"/>
                  </a:ext>
                </a:extLst>
              </a:tr>
              <a:tr h="653860">
                <a:tc>
                  <a:txBody>
                    <a:bodyPr/>
                    <a:lstStyle/>
                    <a:p>
                      <a:r>
                        <a:rPr lang="en-US" sz="2000" dirty="0">
                          <a:solidFill>
                            <a:schemeClr val="bg1"/>
                          </a:solidFill>
                          <a:latin typeface="Times New Roman" panose="02020603050405020304" pitchFamily="18" charset="0"/>
                          <a:cs typeface="Times New Roman" panose="02020603050405020304" pitchFamily="18" charset="0"/>
                        </a:rPr>
                        <a:t>4</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T. RAMANA</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tc>
                  <a:txBody>
                    <a:bodyPr/>
                    <a:lstStyle/>
                    <a:p>
                      <a:r>
                        <a:rPr lang="en-US" sz="2000" dirty="0">
                          <a:solidFill>
                            <a:schemeClr val="bg1"/>
                          </a:solidFill>
                          <a:latin typeface="Times New Roman" panose="02020603050405020304" pitchFamily="18" charset="0"/>
                          <a:cs typeface="Times New Roman" panose="02020603050405020304" pitchFamily="18" charset="0"/>
                        </a:rPr>
                        <a:t>99220041686</a:t>
                      </a:r>
                      <a:endParaRPr lang="en-IN" sz="2000" dirty="0">
                        <a:solidFill>
                          <a:schemeClr val="bg1"/>
                        </a:solidFill>
                        <a:latin typeface="Times New Roman" panose="02020603050405020304" pitchFamily="18" charset="0"/>
                        <a:cs typeface="Times New Roman" panose="02020603050405020304" pitchFamily="18" charset="0"/>
                      </a:endParaRPr>
                    </a:p>
                  </a:txBody>
                  <a:tcPr>
                    <a:solidFill>
                      <a:schemeClr val="bg2">
                        <a:lumMod val="20000"/>
                        <a:lumOff val="80000"/>
                      </a:schemeClr>
                    </a:solidFill>
                  </a:tcPr>
                </a:tc>
                <a:extLst>
                  <a:ext uri="{0D108BD9-81ED-4DB2-BD59-A6C34878D82A}">
                    <a16:rowId xmlns:a16="http://schemas.microsoft.com/office/drawing/2014/main" val="907371705"/>
                  </a:ext>
                </a:extLst>
              </a:tr>
            </a:tbl>
          </a:graphicData>
        </a:graphic>
      </p:graphicFrame>
      <p:sp>
        <p:nvSpPr>
          <p:cNvPr id="5" name="TextBox 4">
            <a:extLst>
              <a:ext uri="{FF2B5EF4-FFF2-40B4-BE49-F238E27FC236}">
                <a16:creationId xmlns:a16="http://schemas.microsoft.com/office/drawing/2014/main" id="{E6BEDC47-6AC2-089D-59AE-745BB8D5D6C8}"/>
              </a:ext>
            </a:extLst>
          </p:cNvPr>
          <p:cNvSpPr txBox="1"/>
          <p:nvPr/>
        </p:nvSpPr>
        <p:spPr>
          <a:xfrm>
            <a:off x="9260515" y="5532672"/>
            <a:ext cx="2044596" cy="646331"/>
          </a:xfrm>
          <a:prstGeom prst="rect">
            <a:avLst/>
          </a:prstGeom>
          <a:noFill/>
        </p:spPr>
        <p:txBody>
          <a:bodyPr wrap="square" rtlCol="0">
            <a:spAutoFit/>
          </a:bodyPr>
          <a:lstStyle/>
          <a:p>
            <a:r>
              <a:rPr lang="en-US" b="1" dirty="0">
                <a:solidFill>
                  <a:srgbClr val="FFC000"/>
                </a:solidFill>
                <a:latin typeface="Times New Roman" panose="02020603050405020304" pitchFamily="18" charset="0"/>
                <a:cs typeface="Times New Roman" panose="02020603050405020304" pitchFamily="18" charset="0"/>
              </a:rPr>
              <a:t>GUIDED BY:</a:t>
            </a:r>
          </a:p>
          <a:p>
            <a:r>
              <a:rPr lang="en-US" dirty="0">
                <a:latin typeface="Times New Roman" panose="02020603050405020304" pitchFamily="18" charset="0"/>
                <a:cs typeface="Times New Roman" panose="02020603050405020304" pitchFamily="18" charset="0"/>
              </a:rPr>
              <a:t>P. KALAIARASI</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CFB829A-0836-1CA4-16E3-99FB33D57F68}"/>
              </a:ext>
            </a:extLst>
          </p:cNvPr>
          <p:cNvSpPr txBox="1"/>
          <p:nvPr/>
        </p:nvSpPr>
        <p:spPr>
          <a:xfrm>
            <a:off x="810704" y="1297518"/>
            <a:ext cx="10087087" cy="1200329"/>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AI-MediAssist: A Conversational Agent for </a:t>
            </a:r>
          </a:p>
          <a:p>
            <a:pPr algn="ctr"/>
            <a:r>
              <a:rPr lang="en-US" sz="3600" b="1" dirty="0">
                <a:solidFill>
                  <a:schemeClr val="bg1"/>
                </a:solidFill>
                <a:latin typeface="Times New Roman" panose="02020603050405020304" pitchFamily="18" charset="0"/>
                <a:cs typeface="Times New Roman" panose="02020603050405020304" pitchFamily="18" charset="0"/>
              </a:rPr>
              <a:t>Healthcare Guidance</a:t>
            </a:r>
            <a:endParaRPr lang="en-IN" sz="36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2A2D7B2-8262-B75D-82FE-C3EF126B1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827" y="124518"/>
            <a:ext cx="8740880" cy="1108957"/>
          </a:xfrm>
          <a:prstGeom prst="rect">
            <a:avLst/>
          </a:prstGeom>
        </p:spPr>
      </p:pic>
    </p:spTree>
    <p:extLst>
      <p:ext uri="{BB962C8B-B14F-4D97-AF65-F5344CB8AC3E}">
        <p14:creationId xmlns:p14="http://schemas.microsoft.com/office/powerpoint/2010/main" val="1881569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F13D-FFCB-4FB9-C69F-F6CB110B2C7A}"/>
              </a:ext>
            </a:extLst>
          </p:cNvPr>
          <p:cNvSpPr>
            <a:spLocks noGrp="1"/>
          </p:cNvSpPr>
          <p:nvPr>
            <p:ph type="title"/>
          </p:nvPr>
        </p:nvSpPr>
        <p:spPr/>
        <p:txBody>
          <a:bodyPr>
            <a:normAutofit/>
          </a:bodyPr>
          <a:lstStyle/>
          <a:p>
            <a:r>
              <a:rPr lang="en-US" sz="3200" dirty="0">
                <a:solidFill>
                  <a:schemeClr val="bg2"/>
                </a:solidFill>
                <a:latin typeface="Times New Roman" panose="02020603050405020304" pitchFamily="18" charset="0"/>
                <a:cs typeface="Times New Roman" panose="02020603050405020304" pitchFamily="18" charset="0"/>
              </a:rPr>
              <a:t>Problem Statement</a:t>
            </a:r>
            <a:endParaRPr lang="en-IN" sz="3200"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08BEF6-2EDD-DC37-EB7C-B999AE925047}"/>
              </a:ext>
            </a:extLst>
          </p:cNvPr>
          <p:cNvSpPr>
            <a:spLocks noGrp="1"/>
          </p:cNvSpPr>
          <p:nvPr>
            <p:ph idx="1"/>
          </p:nvPr>
        </p:nvSpPr>
        <p:spPr>
          <a:xfrm>
            <a:off x="1141412" y="1881963"/>
            <a:ext cx="9905999" cy="2473221"/>
          </a:xfrm>
        </p:spPr>
        <p:txBody>
          <a:bodyPr>
            <a:normAutofit/>
          </a:bodyPr>
          <a:lstStyle/>
          <a:p>
            <a:pPr algn="just"/>
            <a:r>
              <a:rPr lang="en-US" dirty="0">
                <a:latin typeface="Times New Roman" panose="02020603050405020304" pitchFamily="18" charset="0"/>
                <a:cs typeface="Times New Roman" panose="02020603050405020304" pitchFamily="18" charset="0"/>
              </a:rPr>
              <a:t>The healthcare sector challenges such as limited access to doctors in rural and underserved regions, long waiting times, and an increased burden on medical staff due to repetitive queries. Moreover, the lack of real-time 24/7 medical assistance and the absence of integrated image analysis with NLP in existing systems hinder accurate and timely preliminary diagnosis.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682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6AFB5-5F6D-4999-0F98-A39C7C74A2DE}"/>
              </a:ext>
            </a:extLst>
          </p:cNvPr>
          <p:cNvSpPr>
            <a:spLocks noGrp="1"/>
          </p:cNvSpPr>
          <p:nvPr>
            <p:ph type="title"/>
          </p:nvPr>
        </p:nvSpPr>
        <p:spPr>
          <a:xfrm>
            <a:off x="1216827" y="990786"/>
            <a:ext cx="9803108" cy="739628"/>
          </a:xfrm>
        </p:spPr>
        <p:txBody>
          <a:bodyPr/>
          <a:lstStyle/>
          <a:p>
            <a:r>
              <a:rPr lang="en-US" dirty="0">
                <a:solidFill>
                  <a:schemeClr val="bg1"/>
                </a:solidFill>
                <a:latin typeface="Times New Roman" panose="02020603050405020304" pitchFamily="18" charset="0"/>
                <a:cs typeface="Times New Roman" panose="02020603050405020304" pitchFamily="18" charset="0"/>
              </a:rPr>
              <a:t>ABSTRACT</a:t>
            </a:r>
            <a:endParaRPr lang="en-IN" dirty="0">
              <a:solidFill>
                <a:schemeClr val="bg1"/>
              </a:solidFill>
            </a:endParaRPr>
          </a:p>
        </p:txBody>
      </p:sp>
      <p:sp>
        <p:nvSpPr>
          <p:cNvPr id="3" name="Content Placeholder 2">
            <a:extLst>
              <a:ext uri="{FF2B5EF4-FFF2-40B4-BE49-F238E27FC236}">
                <a16:creationId xmlns:a16="http://schemas.microsoft.com/office/drawing/2014/main" id="{B3D94465-F8FD-BEB0-B3FC-829EB2FA1C98}"/>
              </a:ext>
            </a:extLst>
          </p:cNvPr>
          <p:cNvSpPr>
            <a:spLocks noGrp="1"/>
          </p:cNvSpPr>
          <p:nvPr>
            <p:ph idx="1"/>
          </p:nvPr>
        </p:nvSpPr>
        <p:spPr>
          <a:xfrm>
            <a:off x="1216826" y="1730414"/>
            <a:ext cx="9905999" cy="4136800"/>
          </a:xfrm>
        </p:spPr>
        <p:txBody>
          <a:bodyPr>
            <a:normAutofit fontScale="92500"/>
          </a:bodyPr>
          <a:lstStyle/>
          <a:p>
            <a:pPr marL="0" indent="0" algn="just">
              <a:buNone/>
            </a:pPr>
            <a:r>
              <a:rPr lang="en-US" sz="1800" dirty="0">
                <a:latin typeface="Times New Roman" panose="02020603050405020304" pitchFamily="18" charset="0"/>
                <a:cs typeface="Times New Roman" panose="02020603050405020304" pitchFamily="18" charset="0"/>
              </a:rPr>
              <a:t>Timely and good access to healthcare is still a big challenge, especially in rural and semi-urban areas that have limited access to a healthcare facility and healthcare professional. To bridge this gap, we offer </a:t>
            </a:r>
            <a:r>
              <a:rPr lang="en-US" sz="1800" dirty="0" err="1">
                <a:latin typeface="Times New Roman" panose="02020603050405020304" pitchFamily="18" charset="0"/>
                <a:cs typeface="Times New Roman" panose="02020603050405020304" pitchFamily="18" charset="0"/>
              </a:rPr>
              <a:t>ViteaSense</a:t>
            </a:r>
            <a:r>
              <a:rPr lang="en-US" sz="1800" dirty="0">
                <a:latin typeface="Times New Roman" panose="02020603050405020304" pitchFamily="18" charset="0"/>
                <a:cs typeface="Times New Roman" panose="02020603050405020304" pitchFamily="18" charset="0"/>
              </a:rPr>
              <a:t>, a smart and scalable Virtual Doctor Assist Agent platform that uses Cloud technology, Machine Learning (ML), and Artificial Intelligence (AI) to provide medical consultation and intelligent diagnostics remotely. </a:t>
            </a:r>
            <a:r>
              <a:rPr lang="en-US" sz="1800" dirty="0" err="1">
                <a:latin typeface="Times New Roman" panose="02020603050405020304" pitchFamily="18" charset="0"/>
                <a:cs typeface="Times New Roman" panose="02020603050405020304" pitchFamily="18" charset="0"/>
              </a:rPr>
              <a:t>ViteaSense</a:t>
            </a:r>
            <a:r>
              <a:rPr lang="en-US" sz="1800" dirty="0">
                <a:latin typeface="Times New Roman" panose="02020603050405020304" pitchFamily="18" charset="0"/>
                <a:cs typeface="Times New Roman" panose="02020603050405020304" pitchFamily="18" charset="0"/>
              </a:rPr>
              <a:t> allows patients to see verified doctors over video calls, schedule appointments, upload medical records, and receive prescriptions and recommendations from home. Significantly, the platform explicitly provides an AI model that identifies medical images that can be used to support early diagnosis of diseases such as brain tumors, lung infections, and skin diseases. The services of this platform include multilingual support (includes English, Tamil, and Telugu) to accommodate users from diverse language groups while providing a data privacy and protection model that provides encryption. </a:t>
            </a:r>
            <a:r>
              <a:rPr lang="en-US" sz="1800" dirty="0" err="1">
                <a:latin typeface="Times New Roman" panose="02020603050405020304" pitchFamily="18" charset="0"/>
                <a:cs typeface="Times New Roman" panose="02020603050405020304" pitchFamily="18" charset="0"/>
              </a:rPr>
              <a:t>ViteaSense</a:t>
            </a:r>
            <a:r>
              <a:rPr lang="en-US" sz="1800" dirty="0">
                <a:latin typeface="Times New Roman" panose="02020603050405020304" pitchFamily="18" charset="0"/>
                <a:cs typeface="Times New Roman" panose="02020603050405020304" pitchFamily="18" charset="0"/>
              </a:rPr>
              <a:t> aims to create a reliable, affordable, accessible health ecosystem and allows for users to access a user- friendly interface, while a back-end approval system for doctors. </a:t>
            </a:r>
            <a:r>
              <a:rPr lang="en-US" sz="1800" dirty="0" err="1">
                <a:latin typeface="Times New Roman" panose="02020603050405020304" pitchFamily="18" charset="0"/>
                <a:cs typeface="Times New Roman" panose="02020603050405020304" pitchFamily="18" charset="0"/>
              </a:rPr>
              <a:t>Viteasense</a:t>
            </a:r>
            <a:r>
              <a:rPr lang="en-US" sz="1800" dirty="0">
                <a:latin typeface="Times New Roman" panose="02020603050405020304" pitchFamily="18" charset="0"/>
                <a:cs typeface="Times New Roman" panose="02020603050405020304" pitchFamily="18" charset="0"/>
              </a:rPr>
              <a:t> uses a deep learning model to validate its performance. It follows the guidelines outlined by national and international telemedicine regulators to pursue real world application.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042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7E514-5744-79E9-7053-A1EB3030EDD0}"/>
              </a:ext>
            </a:extLst>
          </p:cNvPr>
          <p:cNvSpPr>
            <a:spLocks noGrp="1"/>
          </p:cNvSpPr>
          <p:nvPr>
            <p:ph type="title"/>
          </p:nvPr>
        </p:nvSpPr>
        <p:spPr>
          <a:xfrm>
            <a:off x="1141413" y="948456"/>
            <a:ext cx="9905998" cy="678794"/>
          </a:xfrm>
        </p:spPr>
        <p:txBody>
          <a:bodyPr>
            <a:normAutofit/>
          </a:bodyPr>
          <a:lstStyle/>
          <a:p>
            <a:r>
              <a:rPr lang="en-US" sz="3200" dirty="0">
                <a:solidFill>
                  <a:schemeClr val="bg2"/>
                </a:solidFill>
                <a:latin typeface="Times New Roman" panose="02020603050405020304" pitchFamily="18" charset="0"/>
                <a:cs typeface="Times New Roman" panose="02020603050405020304" pitchFamily="18" charset="0"/>
              </a:rPr>
              <a:t>Objective</a:t>
            </a:r>
            <a:endParaRPr lang="en-IN" sz="32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EDDC290-D8EB-17C7-F3E1-0FFC90F8DA6B}"/>
              </a:ext>
            </a:extLst>
          </p:cNvPr>
          <p:cNvSpPr>
            <a:spLocks noGrp="1" noChangeArrowheads="1"/>
          </p:cNvSpPr>
          <p:nvPr>
            <p:ph idx="1"/>
          </p:nvPr>
        </p:nvSpPr>
        <p:spPr bwMode="auto">
          <a:xfrm>
            <a:off x="1141413" y="2035975"/>
            <a:ext cx="100293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SzTx/>
              <a:buFontTx/>
              <a:buChar char="•"/>
            </a:pPr>
            <a:r>
              <a:rPr lang="en-US" altLang="en-US" dirty="0">
                <a:latin typeface="Times New Roman" panose="02020603050405020304" pitchFamily="18" charset="0"/>
                <a:cs typeface="Times New Roman" panose="02020603050405020304" pitchFamily="18" charset="0"/>
              </a:rPr>
              <a:t>Develop a real-time AI system to continuously monitor patient vital signs using wearable devices and sensors. Enable analysis of medical images and live webcam input for condition detection. Provide real-time preliminary medical support, including treatment suggestions and guidance. Improve healthcare accessibility, especially in rural and underserved regions. Reduce the workload of healthcare professionals by automating repetitive queries. Ensure strong data privacy, security, and compliance with medical regulations. Design the system to be scalable, multilingual, and easy to deploy across various devices.</a:t>
            </a:r>
          </a:p>
        </p:txBody>
      </p:sp>
    </p:spTree>
    <p:extLst>
      <p:ext uri="{BB962C8B-B14F-4D97-AF65-F5344CB8AC3E}">
        <p14:creationId xmlns:p14="http://schemas.microsoft.com/office/powerpoint/2010/main" val="279820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3B167F7-2E04-8A22-AF2E-C638AC9A0322}"/>
              </a:ext>
            </a:extLst>
          </p:cNvPr>
          <p:cNvGraphicFramePr>
            <a:graphicFrameLocks noGrp="1"/>
          </p:cNvGraphicFramePr>
          <p:nvPr>
            <p:extLst>
              <p:ext uri="{D42A27DB-BD31-4B8C-83A1-F6EECF244321}">
                <p14:modId xmlns:p14="http://schemas.microsoft.com/office/powerpoint/2010/main" val="3225742484"/>
              </p:ext>
            </p:extLst>
          </p:nvPr>
        </p:nvGraphicFramePr>
        <p:xfrm>
          <a:off x="942680" y="989814"/>
          <a:ext cx="10237509" cy="5439268"/>
        </p:xfrm>
        <a:graphic>
          <a:graphicData uri="http://schemas.openxmlformats.org/drawingml/2006/table">
            <a:tbl>
              <a:tblPr firstRow="1" firstCol="1" bandRow="1">
                <a:tableStyleId>{7DF18680-E054-41AD-8BC1-D1AEF772440D}</a:tableStyleId>
              </a:tblPr>
              <a:tblGrid>
                <a:gridCol w="1688178">
                  <a:extLst>
                    <a:ext uri="{9D8B030D-6E8A-4147-A177-3AD203B41FA5}">
                      <a16:colId xmlns:a16="http://schemas.microsoft.com/office/drawing/2014/main" val="2288156370"/>
                    </a:ext>
                  </a:extLst>
                </a:gridCol>
                <a:gridCol w="1807246">
                  <a:extLst>
                    <a:ext uri="{9D8B030D-6E8A-4147-A177-3AD203B41FA5}">
                      <a16:colId xmlns:a16="http://schemas.microsoft.com/office/drawing/2014/main" val="2863690479"/>
                    </a:ext>
                  </a:extLst>
                </a:gridCol>
                <a:gridCol w="2096406">
                  <a:extLst>
                    <a:ext uri="{9D8B030D-6E8A-4147-A177-3AD203B41FA5}">
                      <a16:colId xmlns:a16="http://schemas.microsoft.com/office/drawing/2014/main" val="2961424766"/>
                    </a:ext>
                  </a:extLst>
                </a:gridCol>
                <a:gridCol w="2192081">
                  <a:extLst>
                    <a:ext uri="{9D8B030D-6E8A-4147-A177-3AD203B41FA5}">
                      <a16:colId xmlns:a16="http://schemas.microsoft.com/office/drawing/2014/main" val="1027062817"/>
                    </a:ext>
                  </a:extLst>
                </a:gridCol>
                <a:gridCol w="2453598">
                  <a:extLst>
                    <a:ext uri="{9D8B030D-6E8A-4147-A177-3AD203B41FA5}">
                      <a16:colId xmlns:a16="http://schemas.microsoft.com/office/drawing/2014/main" val="2638263969"/>
                    </a:ext>
                  </a:extLst>
                </a:gridCol>
              </a:tblGrid>
              <a:tr h="648134">
                <a:tc>
                  <a:txBody>
                    <a:bodyPr/>
                    <a:lstStyle/>
                    <a:p>
                      <a:pPr indent="182880" algn="ctr">
                        <a:lnSpc>
                          <a:spcPct val="95000"/>
                        </a:lnSpc>
                        <a:spcAft>
                          <a:spcPts val="600"/>
                        </a:spcAft>
                        <a:buNone/>
                        <a:tabLst>
                          <a:tab pos="182880" algn="l"/>
                        </a:tabLst>
                      </a:pPr>
                      <a:r>
                        <a:rPr lang="zh-CN" sz="1600" b="1" spc="-5">
                          <a:effectLst/>
                          <a:latin typeface="Times New Roman" panose="02020603050405020304" pitchFamily="18" charset="0"/>
                          <a:ea typeface="SimSun" panose="02010600030101010101" pitchFamily="2" charset="-122"/>
                        </a:rPr>
                        <a:t>Auth</a:t>
                      </a:r>
                      <a:r>
                        <a:rPr lang="en-US" sz="1600" b="1" spc="-5">
                          <a:effectLst/>
                          <a:latin typeface="Times New Roman" panose="02020603050405020304" pitchFamily="18" charset="0"/>
                          <a:ea typeface="SimSun" panose="02010600030101010101" pitchFamily="2" charset="-122"/>
                        </a:rPr>
                        <a:t>o</a:t>
                      </a:r>
                      <a:r>
                        <a:rPr lang="zh-CN" sz="1600" b="1" spc="-5">
                          <a:effectLst/>
                          <a:latin typeface="Times New Roman" panose="02020603050405020304" pitchFamily="18" charset="0"/>
                          <a:ea typeface="SimSun" panose="02010600030101010101" pitchFamily="2" charset="-122"/>
                        </a:rPr>
                        <a:t>r &amp; Year</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b="1" spc="-5">
                          <a:effectLst/>
                          <a:latin typeface="Times New Roman" panose="02020603050405020304" pitchFamily="18" charset="0"/>
                          <a:ea typeface="SimSun" panose="02010600030101010101" pitchFamily="2" charset="-122"/>
                        </a:rPr>
                        <a:t>Approach / Model</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b="1" spc="-5">
                          <a:effectLst/>
                          <a:latin typeface="Times New Roman" panose="02020603050405020304" pitchFamily="18" charset="0"/>
                          <a:ea typeface="SimSun" panose="02010600030101010101" pitchFamily="2" charset="-122"/>
                        </a:rPr>
                        <a:t>Key Features</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b="1" spc="-5">
                          <a:effectLst/>
                          <a:latin typeface="Times New Roman" panose="02020603050405020304" pitchFamily="18" charset="0"/>
                          <a:ea typeface="SimSun" panose="02010600030101010101" pitchFamily="2" charset="-122"/>
                        </a:rPr>
                        <a:t>Limitations</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b="1" spc="-5">
                          <a:effectLst/>
                          <a:latin typeface="Times New Roman" panose="02020603050405020304" pitchFamily="18" charset="0"/>
                          <a:ea typeface="SimSun" panose="02010600030101010101" pitchFamily="2" charset="-122"/>
                        </a:rPr>
                        <a:t>Our Contribution(AI-MediAssist)</a:t>
                      </a:r>
                      <a:endParaRPr lang="en-IN" sz="2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825292010"/>
                  </a:ext>
                </a:extLst>
              </a:tr>
              <a:tr h="1166642">
                <a:tc>
                  <a:txBody>
                    <a:bodyPr/>
                    <a:lstStyle/>
                    <a:p>
                      <a:pPr indent="182880" algn="ctr">
                        <a:lnSpc>
                          <a:spcPct val="95000"/>
                        </a:lnSpc>
                        <a:spcAft>
                          <a:spcPts val="600"/>
                        </a:spcAft>
                        <a:buNone/>
                        <a:tabLst>
                          <a:tab pos="182880" algn="l"/>
                        </a:tabLst>
                      </a:pPr>
                      <a:r>
                        <a:rPr lang="zh-CN" sz="1600" spc="-5" dirty="0">
                          <a:effectLst/>
                          <a:latin typeface="Times New Roman" panose="02020603050405020304" pitchFamily="18" charset="0"/>
                          <a:ea typeface="SimSun" panose="02010600030101010101" pitchFamily="2" charset="-122"/>
                        </a:rPr>
                        <a:t>Chaturvedi et al. (2024) [1]</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dirty="0">
                          <a:effectLst/>
                          <a:latin typeface="Times New Roman" panose="02020603050405020304" pitchFamily="18" charset="0"/>
                          <a:ea typeface="SimSun" panose="02010600030101010101" pitchFamily="2" charset="-122"/>
                        </a:rPr>
                        <a:t>AI virtual assistant with multilingual support</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dirty="0">
                          <a:effectLst/>
                          <a:latin typeface="Times New Roman" panose="02020603050405020304" pitchFamily="18" charset="0"/>
                          <a:ea typeface="SimSun" panose="02010600030101010101" pitchFamily="2" charset="-122"/>
                        </a:rPr>
                        <a:t>Diagnostic accuracy, remote consultation</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Limited ethical analysis</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dirty="0">
                          <a:effectLst/>
                          <a:latin typeface="Times New Roman" panose="02020603050405020304" pitchFamily="18" charset="0"/>
                          <a:ea typeface="SimSun" panose="02010600030101010101" pitchFamily="2" charset="-122"/>
                        </a:rPr>
                        <a:t>Added </a:t>
                      </a:r>
                      <a:r>
                        <a:rPr lang="en-US" sz="1600" spc="-5" dirty="0">
                          <a:effectLst/>
                          <a:latin typeface="Times New Roman" panose="02020603050405020304" pitchFamily="18" charset="0"/>
                          <a:ea typeface="SimSun" panose="02010600030101010101" pitchFamily="2" charset="-122"/>
                        </a:rPr>
                        <a:t>multiple scans</a:t>
                      </a:r>
                      <a:r>
                        <a:rPr lang="en-IN" sz="1600" spc="-5" dirty="0">
                          <a:effectLst/>
                          <a:latin typeface="Times New Roman" panose="02020603050405020304" pitchFamily="18" charset="0"/>
                          <a:ea typeface="SimSun" panose="02010600030101010101" pitchFamily="2" charset="-122"/>
                        </a:rPr>
                        <a:t>+ secure diagnostics with privacy</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94075564"/>
                  </a:ext>
                </a:extLst>
              </a:tr>
              <a:tr h="907389">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Dave &amp; Patel (2023) [2]</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dirty="0">
                          <a:effectLst/>
                          <a:latin typeface="Times New Roman" panose="02020603050405020304" pitchFamily="18" charset="0"/>
                          <a:ea typeface="SimSun" panose="02010600030101010101" pitchFamily="2" charset="-122"/>
                        </a:rPr>
                        <a:t>IoT-based AI health monitoring</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Low-cost, real-time alerts</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Small-scale, limited scalability</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Scalable cloud-based system with ML models</a:t>
                      </a:r>
                      <a:endParaRPr lang="en-IN" sz="2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001210723"/>
                  </a:ext>
                </a:extLst>
              </a:tr>
              <a:tr h="902325">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Guo &amp; Chen (2025) [3]</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AI vs. human consultation study</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Focused on patient perception</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dirty="0">
                          <a:effectLst/>
                          <a:latin typeface="Times New Roman" panose="02020603050405020304" pitchFamily="18" charset="0"/>
                          <a:ea typeface="SimSun" panose="02010600030101010101" pitchFamily="2" charset="-122"/>
                        </a:rPr>
                        <a:t>Lacked real-time integration</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Real-time physician integration + AI diagnostics</a:t>
                      </a:r>
                      <a:endParaRPr lang="en-IN" sz="2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573849027"/>
                  </a:ext>
                </a:extLst>
              </a:tr>
              <a:tr h="907389">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Olawade et al. (2024) [4]</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AI automation in healthcare</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Personalized care, predictive analytics</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General theoretical model</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Implemented practical AI with video consultation</a:t>
                      </a:r>
                      <a:endParaRPr lang="en-IN" sz="2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286192694"/>
                  </a:ext>
                </a:extLst>
              </a:tr>
              <a:tr h="907389">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Kolbinger et al. (2024) [5]</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a:effectLst/>
                          <a:latin typeface="Times New Roman" panose="02020603050405020304" pitchFamily="18" charset="0"/>
                          <a:ea typeface="SimSun" panose="02010600030101010101" pitchFamily="2" charset="-122"/>
                        </a:rPr>
                        <a:t>Reporting guidelines for medical AI</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Emphasized governance &amp; reproducibility</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zh-CN" sz="1600" spc="-5">
                          <a:effectLst/>
                          <a:latin typeface="Times New Roman" panose="02020603050405020304" pitchFamily="18" charset="0"/>
                          <a:ea typeface="SimSun" panose="02010600030101010101" pitchFamily="2" charset="-122"/>
                        </a:rPr>
                        <a:t>No system implementation</a:t>
                      </a:r>
                      <a:endParaRPr lang="en-IN" sz="2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indent="182880" algn="ctr">
                        <a:lnSpc>
                          <a:spcPct val="95000"/>
                        </a:lnSpc>
                        <a:spcAft>
                          <a:spcPts val="600"/>
                        </a:spcAft>
                        <a:buNone/>
                        <a:tabLst>
                          <a:tab pos="182880" algn="l"/>
                        </a:tabLst>
                      </a:pPr>
                      <a:r>
                        <a:rPr lang="en-IN" sz="1600" spc="-5" dirty="0">
                          <a:effectLst/>
                          <a:latin typeface="Times New Roman" panose="02020603050405020304" pitchFamily="18" charset="0"/>
                          <a:ea typeface="SimSun" panose="02010600030101010101" pitchFamily="2" charset="-122"/>
                        </a:rPr>
                        <a:t>Developed operational system meeting standards</a:t>
                      </a:r>
                      <a:endParaRPr lang="en-IN" sz="2000" spc="-5"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266519515"/>
                  </a:ext>
                </a:extLst>
              </a:tr>
            </a:tbl>
          </a:graphicData>
        </a:graphic>
      </p:graphicFrame>
      <p:sp>
        <p:nvSpPr>
          <p:cNvPr id="4" name="TextBox 3">
            <a:extLst>
              <a:ext uri="{FF2B5EF4-FFF2-40B4-BE49-F238E27FC236}">
                <a16:creationId xmlns:a16="http://schemas.microsoft.com/office/drawing/2014/main" id="{551C42B7-B45C-9876-1357-72E88A15E913}"/>
              </a:ext>
            </a:extLst>
          </p:cNvPr>
          <p:cNvSpPr txBox="1"/>
          <p:nvPr/>
        </p:nvSpPr>
        <p:spPr>
          <a:xfrm>
            <a:off x="1150070" y="179109"/>
            <a:ext cx="6360491" cy="646331"/>
          </a:xfrm>
          <a:prstGeom prst="rect">
            <a:avLst/>
          </a:prstGeom>
          <a:noFill/>
        </p:spPr>
        <p:txBody>
          <a:bodyPr wrap="square" rtlCol="0">
            <a:spAutoFit/>
          </a:bodyPr>
          <a:lstStyle/>
          <a:p>
            <a:pPr>
              <a:defRPr sz="2800"/>
            </a:pPr>
            <a:r>
              <a:rPr lang="en-IN" sz="3600" dirty="0">
                <a:solidFill>
                  <a:schemeClr val="bg2">
                    <a:lumMod val="75000"/>
                  </a:schemeClr>
                </a:solidFill>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82163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B01CF-A80B-14C0-68AF-44C48DE250E2}"/>
              </a:ext>
            </a:extLst>
          </p:cNvPr>
          <p:cNvSpPr txBox="1"/>
          <p:nvPr/>
        </p:nvSpPr>
        <p:spPr>
          <a:xfrm>
            <a:off x="1640263" y="867266"/>
            <a:ext cx="5005634" cy="584775"/>
          </a:xfrm>
          <a:prstGeom prst="rect">
            <a:avLst/>
          </a:prstGeom>
          <a:noFill/>
        </p:spPr>
        <p:txBody>
          <a:bodyPr wrap="square" rtlCol="0">
            <a:spAutoFit/>
          </a:bodyPr>
          <a:lstStyle/>
          <a:p>
            <a:r>
              <a:rPr lang="en-IN" sz="3200" dirty="0">
                <a:solidFill>
                  <a:schemeClr val="bg1"/>
                </a:solidFill>
                <a:latin typeface="Times New Roman" panose="02020603050405020304" pitchFamily="18" charset="0"/>
                <a:cs typeface="Times New Roman" panose="02020603050405020304" pitchFamily="18" charset="0"/>
              </a:rPr>
              <a:t>PROJECT OVERVIEW:</a:t>
            </a:r>
          </a:p>
        </p:txBody>
      </p:sp>
      <p:sp>
        <p:nvSpPr>
          <p:cNvPr id="3" name="TextBox 2">
            <a:extLst>
              <a:ext uri="{FF2B5EF4-FFF2-40B4-BE49-F238E27FC236}">
                <a16:creationId xmlns:a16="http://schemas.microsoft.com/office/drawing/2014/main" id="{A097978E-CBFD-ADF4-E5C8-AD884177391E}"/>
              </a:ext>
            </a:extLst>
          </p:cNvPr>
          <p:cNvSpPr txBox="1"/>
          <p:nvPr/>
        </p:nvSpPr>
        <p:spPr>
          <a:xfrm>
            <a:off x="1545996" y="1905506"/>
            <a:ext cx="8521831" cy="3108543"/>
          </a:xfrm>
          <a:prstGeom prst="rect">
            <a:avLst/>
          </a:prstGeom>
          <a:noFill/>
        </p:spPr>
        <p:txBody>
          <a:bodyPr wrap="square" rtlCol="0">
            <a:spAutoFit/>
          </a:bodyPr>
          <a:lstStyle/>
          <a:p>
            <a:pPr lvl="0" algn="just" defTabSz="91440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Web-based smart healthcare platform.</a:t>
            </a:r>
          </a:p>
          <a:p>
            <a:pPr lvl="0" algn="just" defTabSz="91440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Patients can book appointments and access AI predictions.</a:t>
            </a:r>
          </a:p>
          <a:p>
            <a:pPr lvl="0" algn="just" defTabSz="91440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Doctors manage appointments and digitally.</a:t>
            </a:r>
          </a:p>
          <a:p>
            <a:pPr lvl="0" algn="just" defTabSz="91440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Admin monitors and controls the system.</a:t>
            </a:r>
          </a:p>
          <a:p>
            <a:pPr lvl="0" algn="just" defTabSz="914400" eaLnBrk="0" fontAlgn="base" hangingPunct="0">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Integrated chatbot for basic healthcare guidance.</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85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64588-0C03-D6B8-C918-789E96130206}"/>
              </a:ext>
            </a:extLst>
          </p:cNvPr>
          <p:cNvSpPr>
            <a:spLocks noGrp="1"/>
          </p:cNvSpPr>
          <p:nvPr>
            <p:ph type="title"/>
          </p:nvPr>
        </p:nvSpPr>
        <p:spPr>
          <a:xfrm>
            <a:off x="1692635" y="686096"/>
            <a:ext cx="9905998" cy="939096"/>
          </a:xfrm>
        </p:spPr>
        <p:txBody>
          <a:bodyPr>
            <a:normAutofit/>
          </a:bodyPr>
          <a:lstStyle/>
          <a:p>
            <a:r>
              <a:rPr lang="en-IN" sz="3200" dirty="0">
                <a:solidFill>
                  <a:schemeClr val="bg2">
                    <a:lumMod val="75000"/>
                  </a:schemeClr>
                </a:solidFill>
                <a:latin typeface="Times New Roman" panose="02020603050405020304" pitchFamily="18" charset="0"/>
                <a:cs typeface="Times New Roman" panose="02020603050405020304" pitchFamily="18" charset="0"/>
              </a:rPr>
              <a:t>Technology Stack</a:t>
            </a:r>
          </a:p>
        </p:txBody>
      </p:sp>
      <p:graphicFrame>
        <p:nvGraphicFramePr>
          <p:cNvPr id="3" name="Table 2">
            <a:extLst>
              <a:ext uri="{FF2B5EF4-FFF2-40B4-BE49-F238E27FC236}">
                <a16:creationId xmlns:a16="http://schemas.microsoft.com/office/drawing/2014/main" id="{5D6C2F14-FBCE-F462-9274-6F8B3CD110C1}"/>
              </a:ext>
            </a:extLst>
          </p:cNvPr>
          <p:cNvGraphicFramePr>
            <a:graphicFrameLocks noGrp="1"/>
          </p:cNvGraphicFramePr>
          <p:nvPr>
            <p:extLst>
              <p:ext uri="{D42A27DB-BD31-4B8C-83A1-F6EECF244321}">
                <p14:modId xmlns:p14="http://schemas.microsoft.com/office/powerpoint/2010/main" val="1410123487"/>
              </p:ext>
            </p:extLst>
          </p:nvPr>
        </p:nvGraphicFramePr>
        <p:xfrm>
          <a:off x="1815184" y="1935480"/>
          <a:ext cx="8128000" cy="2987040"/>
        </p:xfrm>
        <a:graphic>
          <a:graphicData uri="http://schemas.openxmlformats.org/drawingml/2006/table">
            <a:tbl>
              <a:tblPr firstRow="1" bandRow="1">
                <a:tableStyleId>{7DF18680-E054-41AD-8BC1-D1AEF772440D}</a:tableStyleId>
              </a:tblPr>
              <a:tblGrid>
                <a:gridCol w="3256437">
                  <a:extLst>
                    <a:ext uri="{9D8B030D-6E8A-4147-A177-3AD203B41FA5}">
                      <a16:colId xmlns:a16="http://schemas.microsoft.com/office/drawing/2014/main" val="3728852155"/>
                    </a:ext>
                  </a:extLst>
                </a:gridCol>
                <a:gridCol w="4871563">
                  <a:extLst>
                    <a:ext uri="{9D8B030D-6E8A-4147-A177-3AD203B41FA5}">
                      <a16:colId xmlns:a16="http://schemas.microsoft.com/office/drawing/2014/main" val="1000263965"/>
                    </a:ext>
                  </a:extLst>
                </a:gridCol>
              </a:tblGrid>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Category</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a:solidFill>
                            <a:schemeClr val="bg1"/>
                          </a:solidFill>
                          <a:latin typeface="Times New Roman" panose="02020603050405020304" pitchFamily="18" charset="0"/>
                          <a:cs typeface="Times New Roman" panose="02020603050405020304" pitchFamily="18" charset="0"/>
                        </a:rPr>
                        <a:t>Technologies / Models Used</a:t>
                      </a:r>
                      <a:endParaRPr lang="en-IN" sz="2000">
                        <a:solidFill>
                          <a:schemeClr val="bg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31153305"/>
                  </a:ext>
                </a:extLst>
              </a:tr>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Frontend</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000">
                          <a:solidFill>
                            <a:schemeClr val="bg1"/>
                          </a:solidFill>
                          <a:latin typeface="Times New Roman" panose="02020603050405020304" pitchFamily="18" charset="0"/>
                          <a:cs typeface="Times New Roman" panose="02020603050405020304" pitchFamily="18" charset="0"/>
                        </a:rPr>
                        <a:t>HTML, CSS, JavaScript</a:t>
                      </a:r>
                    </a:p>
                  </a:txBody>
                  <a:tcPr anchor="ctr"/>
                </a:tc>
                <a:extLst>
                  <a:ext uri="{0D108BD9-81ED-4DB2-BD59-A6C34878D82A}">
                    <a16:rowId xmlns:a16="http://schemas.microsoft.com/office/drawing/2014/main" val="1911617261"/>
                  </a:ext>
                </a:extLst>
              </a:tr>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Backend</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000">
                          <a:solidFill>
                            <a:schemeClr val="bg1"/>
                          </a:solidFill>
                          <a:latin typeface="Times New Roman" panose="02020603050405020304" pitchFamily="18" charset="0"/>
                          <a:cs typeface="Times New Roman" panose="02020603050405020304" pitchFamily="18" charset="0"/>
                        </a:rPr>
                        <a:t>Flask (Python)</a:t>
                      </a:r>
                    </a:p>
                  </a:txBody>
                  <a:tcPr anchor="ctr"/>
                </a:tc>
                <a:extLst>
                  <a:ext uri="{0D108BD9-81ED-4DB2-BD59-A6C34878D82A}">
                    <a16:rowId xmlns:a16="http://schemas.microsoft.com/office/drawing/2014/main" val="3561817574"/>
                  </a:ext>
                </a:extLst>
              </a:tr>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Database</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000">
                          <a:solidFill>
                            <a:schemeClr val="bg1"/>
                          </a:solidFill>
                          <a:latin typeface="Times New Roman" panose="02020603050405020304" pitchFamily="18" charset="0"/>
                          <a:cs typeface="Times New Roman" panose="02020603050405020304" pitchFamily="18" charset="0"/>
                        </a:rPr>
                        <a:t>SQLite</a:t>
                      </a:r>
                    </a:p>
                  </a:txBody>
                  <a:tcPr anchor="ctr"/>
                </a:tc>
                <a:extLst>
                  <a:ext uri="{0D108BD9-81ED-4DB2-BD59-A6C34878D82A}">
                    <a16:rowId xmlns:a16="http://schemas.microsoft.com/office/drawing/2014/main" val="2141143943"/>
                  </a:ext>
                </a:extLst>
              </a:tr>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Machine Learning Models</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bg1"/>
                          </a:solidFill>
                          <a:latin typeface="Times New Roman" panose="02020603050405020304" pitchFamily="18" charset="0"/>
                          <a:cs typeface="Times New Roman" panose="02020603050405020304" pitchFamily="18" charset="0"/>
                        </a:rPr>
                        <a:t>Convolutional Neural Network (CNN), Decision Tree</a:t>
                      </a:r>
                    </a:p>
                  </a:txBody>
                  <a:tcPr anchor="ctr"/>
                </a:tc>
                <a:extLst>
                  <a:ext uri="{0D108BD9-81ED-4DB2-BD59-A6C34878D82A}">
                    <a16:rowId xmlns:a16="http://schemas.microsoft.com/office/drawing/2014/main" val="1896231586"/>
                  </a:ext>
                </a:extLst>
              </a:tr>
              <a:tr h="370840">
                <a:tc>
                  <a:txBody>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ML Frameworks &amp; Libraries</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solidFill>
                            <a:schemeClr val="bg1"/>
                          </a:solidFill>
                          <a:latin typeface="Times New Roman" panose="02020603050405020304" pitchFamily="18" charset="0"/>
                          <a:cs typeface="Times New Roman" panose="02020603050405020304" pitchFamily="18" charset="0"/>
                        </a:rPr>
                        <a:t>TensorFlow,  Scikit-learn</a:t>
                      </a:r>
                    </a:p>
                  </a:txBody>
                  <a:tcPr anchor="ctr"/>
                </a:tc>
                <a:extLst>
                  <a:ext uri="{0D108BD9-81ED-4DB2-BD59-A6C34878D82A}">
                    <a16:rowId xmlns:a16="http://schemas.microsoft.com/office/drawing/2014/main" val="2999921270"/>
                  </a:ext>
                </a:extLst>
              </a:tr>
            </a:tbl>
          </a:graphicData>
        </a:graphic>
      </p:graphicFrame>
    </p:spTree>
    <p:extLst>
      <p:ext uri="{BB962C8B-B14F-4D97-AF65-F5344CB8AC3E}">
        <p14:creationId xmlns:p14="http://schemas.microsoft.com/office/powerpoint/2010/main" val="1147348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132FD-3112-B991-850E-140776792DC5}"/>
              </a:ext>
            </a:extLst>
          </p:cNvPr>
          <p:cNvSpPr>
            <a:spLocks noGrp="1"/>
          </p:cNvSpPr>
          <p:nvPr>
            <p:ph type="title"/>
          </p:nvPr>
        </p:nvSpPr>
        <p:spPr>
          <a:xfrm>
            <a:off x="1725086" y="627945"/>
            <a:ext cx="9199775" cy="918051"/>
          </a:xfrm>
        </p:spPr>
        <p:txBody>
          <a:bodyPr>
            <a:normAutofit/>
          </a:bodyPr>
          <a:lstStyle/>
          <a:p>
            <a:r>
              <a:rPr lang="en-US" sz="3200" dirty="0">
                <a:solidFill>
                  <a:schemeClr val="bg2"/>
                </a:solidFill>
                <a:latin typeface="Times New Roman" panose="02020603050405020304" pitchFamily="18" charset="0"/>
                <a:cs typeface="Times New Roman" panose="02020603050405020304" pitchFamily="18" charset="0"/>
              </a:rPr>
              <a:t>System architecture</a:t>
            </a:r>
            <a:endParaRPr lang="en-IN" sz="3200" dirty="0">
              <a:solidFill>
                <a:schemeClr val="bg2"/>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07713406-9858-C68F-3289-5980EBB11D1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33" t="18092" r="333" b="16871"/>
          <a:stretch>
            <a:fillRect/>
          </a:stretch>
        </p:blipFill>
        <p:spPr>
          <a:xfrm>
            <a:off x="1847636" y="1734532"/>
            <a:ext cx="8493551" cy="4637988"/>
          </a:xfrm>
          <a:prstGeom prst="rect">
            <a:avLst/>
          </a:prstGeom>
        </p:spPr>
      </p:pic>
    </p:spTree>
    <p:extLst>
      <p:ext uri="{BB962C8B-B14F-4D97-AF65-F5344CB8AC3E}">
        <p14:creationId xmlns:p14="http://schemas.microsoft.com/office/powerpoint/2010/main" val="334963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7143A-E6A5-2612-BA89-D145282DE76A}"/>
              </a:ext>
            </a:extLst>
          </p:cNvPr>
          <p:cNvSpPr>
            <a:spLocks noGrp="1"/>
          </p:cNvSpPr>
          <p:nvPr>
            <p:ph type="title"/>
          </p:nvPr>
        </p:nvSpPr>
        <p:spPr>
          <a:xfrm>
            <a:off x="1144152" y="1638693"/>
            <a:ext cx="10515600" cy="918528"/>
          </a:xfrm>
        </p:spPr>
        <p:txBody>
          <a:bodyPr/>
          <a:lstStyle/>
          <a:p>
            <a:r>
              <a:rPr lang="en-IN" b="1" dirty="0">
                <a:solidFill>
                  <a:schemeClr val="bg1"/>
                </a:solidFill>
                <a:latin typeface="Times New Roman" panose="02020603050405020304" pitchFamily="18" charset="0"/>
                <a:cs typeface="Times New Roman" panose="02020603050405020304" pitchFamily="18" charset="0"/>
              </a:rPr>
              <a:t>SYSTEM USERS:</a:t>
            </a:r>
          </a:p>
        </p:txBody>
      </p:sp>
      <p:sp>
        <p:nvSpPr>
          <p:cNvPr id="3" name="Content Placeholder 2">
            <a:extLst>
              <a:ext uri="{FF2B5EF4-FFF2-40B4-BE49-F238E27FC236}">
                <a16:creationId xmlns:a16="http://schemas.microsoft.com/office/drawing/2014/main" id="{30C7DBC7-C87E-AADA-46E5-B0166FB1A141}"/>
              </a:ext>
            </a:extLst>
          </p:cNvPr>
          <p:cNvSpPr>
            <a:spLocks noGrp="1"/>
          </p:cNvSpPr>
          <p:nvPr>
            <p:ph idx="1"/>
          </p:nvPr>
        </p:nvSpPr>
        <p:spPr>
          <a:xfrm>
            <a:off x="1021080" y="2785062"/>
            <a:ext cx="8539480" cy="3139123"/>
          </a:xfrm>
        </p:spPr>
        <p:txBody>
          <a:bodyPr/>
          <a:lstStyle/>
          <a:p>
            <a:r>
              <a:rPr lang="en-US" b="1" dirty="0">
                <a:latin typeface="Times New Roman" panose="02020603050405020304" pitchFamily="18" charset="0"/>
                <a:cs typeface="Times New Roman" panose="02020603050405020304" pitchFamily="18" charset="0"/>
              </a:rPr>
              <a:t>Patients</a:t>
            </a:r>
            <a:r>
              <a:rPr lang="en-US" dirty="0">
                <a:latin typeface="Times New Roman" panose="02020603050405020304" pitchFamily="18" charset="0"/>
                <a:cs typeface="Times New Roman" panose="02020603050405020304" pitchFamily="18" charset="0"/>
              </a:rPr>
              <a:t>: Appointment booking, disease prediction, scan upload.</a:t>
            </a:r>
          </a:p>
          <a:p>
            <a:r>
              <a:rPr lang="en-US" b="1" dirty="0">
                <a:latin typeface="Times New Roman" panose="02020603050405020304" pitchFamily="18" charset="0"/>
                <a:cs typeface="Times New Roman" panose="02020603050405020304" pitchFamily="18" charset="0"/>
              </a:rPr>
              <a:t>Doctors</a:t>
            </a:r>
            <a:r>
              <a:rPr lang="en-US" dirty="0">
                <a:latin typeface="Times New Roman" panose="02020603050405020304" pitchFamily="18" charset="0"/>
                <a:cs typeface="Times New Roman" panose="02020603050405020304" pitchFamily="18" charset="0"/>
              </a:rPr>
              <a:t>: Appointment approval, prescription generation.</a:t>
            </a:r>
          </a:p>
          <a:p>
            <a:r>
              <a:rPr lang="en-US" b="1" dirty="0">
                <a:latin typeface="Times New Roman" panose="02020603050405020304" pitchFamily="18" charset="0"/>
                <a:cs typeface="Times New Roman" panose="02020603050405020304" pitchFamily="18" charset="0"/>
              </a:rPr>
              <a:t>Admin</a:t>
            </a:r>
            <a:r>
              <a:rPr lang="en-US" dirty="0">
                <a:latin typeface="Times New Roman" panose="02020603050405020304" pitchFamily="18" charset="0"/>
                <a:cs typeface="Times New Roman" panose="02020603050405020304" pitchFamily="18" charset="0"/>
              </a:rPr>
              <a:t>: User management, system monitoring.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090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71E15-6EBC-534D-8F3C-7E27190B44BE}"/>
              </a:ext>
            </a:extLst>
          </p:cNvPr>
          <p:cNvSpPr>
            <a:spLocks noGrp="1"/>
          </p:cNvSpPr>
          <p:nvPr>
            <p:ph type="title"/>
          </p:nvPr>
        </p:nvSpPr>
        <p:spPr>
          <a:xfrm>
            <a:off x="838200" y="1608881"/>
            <a:ext cx="5527876" cy="775504"/>
          </a:xfrm>
        </p:spPr>
        <p:txBody>
          <a:bodyPr/>
          <a:lstStyle/>
          <a:p>
            <a:r>
              <a:rPr lang="en-IN" b="1" dirty="0">
                <a:solidFill>
                  <a:schemeClr val="bg1"/>
                </a:solidFill>
                <a:latin typeface="Times New Roman" panose="02020603050405020304" pitchFamily="18" charset="0"/>
                <a:cs typeface="Times New Roman" panose="02020603050405020304" pitchFamily="18" charset="0"/>
              </a:rPr>
              <a:t>DOCTOR DASHBOARD:</a:t>
            </a:r>
          </a:p>
        </p:txBody>
      </p:sp>
      <p:sp>
        <p:nvSpPr>
          <p:cNvPr id="5" name="Rectangle 1">
            <a:extLst>
              <a:ext uri="{FF2B5EF4-FFF2-40B4-BE49-F238E27FC236}">
                <a16:creationId xmlns:a16="http://schemas.microsoft.com/office/drawing/2014/main" id="{65176D60-143A-569E-D4AF-20656ED82D38}"/>
              </a:ext>
            </a:extLst>
          </p:cNvPr>
          <p:cNvSpPr>
            <a:spLocks noGrp="1" noChangeArrowheads="1"/>
          </p:cNvSpPr>
          <p:nvPr>
            <p:ph idx="1"/>
          </p:nvPr>
        </p:nvSpPr>
        <p:spPr bwMode="auto">
          <a:xfrm>
            <a:off x="973237" y="2587838"/>
            <a:ext cx="539283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patient appointment requests.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Approve or reject appointments.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digital prescriptions.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patient medical details.</a:t>
            </a:r>
          </a:p>
        </p:txBody>
      </p:sp>
      <p:pic>
        <p:nvPicPr>
          <p:cNvPr id="7" name="Picture 6">
            <a:extLst>
              <a:ext uri="{FF2B5EF4-FFF2-40B4-BE49-F238E27FC236}">
                <a16:creationId xmlns:a16="http://schemas.microsoft.com/office/drawing/2014/main" id="{7DC0BD58-E4BB-AA25-1B5C-852E5D1F5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4024" y="1195904"/>
            <a:ext cx="4659776" cy="4803931"/>
          </a:xfrm>
          <a:prstGeom prst="rect">
            <a:avLst/>
          </a:prstGeom>
        </p:spPr>
      </p:pic>
    </p:spTree>
    <p:extLst>
      <p:ext uri="{BB962C8B-B14F-4D97-AF65-F5344CB8AC3E}">
        <p14:creationId xmlns:p14="http://schemas.microsoft.com/office/powerpoint/2010/main" val="341829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3ADB-DAFB-995B-AC47-1A2D4BE10142}"/>
              </a:ext>
            </a:extLst>
          </p:cNvPr>
          <p:cNvSpPr>
            <a:spLocks noGrp="1"/>
          </p:cNvSpPr>
          <p:nvPr>
            <p:ph type="title"/>
          </p:nvPr>
        </p:nvSpPr>
        <p:spPr>
          <a:xfrm>
            <a:off x="988671" y="1342663"/>
            <a:ext cx="6187633" cy="995423"/>
          </a:xfrm>
        </p:spPr>
        <p:txBody>
          <a:bodyPr>
            <a:normAutofit fontScale="90000"/>
          </a:bodyPr>
          <a:lstStyle/>
          <a:p>
            <a:r>
              <a:rPr lang="en-IN" b="1" dirty="0">
                <a:solidFill>
                  <a:schemeClr val="bg1"/>
                </a:solidFill>
                <a:latin typeface="Times New Roman" panose="02020603050405020304" pitchFamily="18" charset="0"/>
                <a:cs typeface="Times New Roman" panose="02020603050405020304" pitchFamily="18" charset="0"/>
              </a:rPr>
              <a:t>BRAIN TUMOR DETECTION:</a:t>
            </a:r>
          </a:p>
        </p:txBody>
      </p:sp>
      <p:sp>
        <p:nvSpPr>
          <p:cNvPr id="5" name="Rectangle 1">
            <a:extLst>
              <a:ext uri="{FF2B5EF4-FFF2-40B4-BE49-F238E27FC236}">
                <a16:creationId xmlns:a16="http://schemas.microsoft.com/office/drawing/2014/main" id="{63B4EDD7-9D70-13FC-5BEB-9DBF24E08DCF}"/>
              </a:ext>
            </a:extLst>
          </p:cNvPr>
          <p:cNvSpPr>
            <a:spLocks noGrp="1" noChangeArrowheads="1"/>
          </p:cNvSpPr>
          <p:nvPr>
            <p:ph idx="1"/>
          </p:nvPr>
        </p:nvSpPr>
        <p:spPr bwMode="auto">
          <a:xfrm>
            <a:off x="1173402" y="2437158"/>
            <a:ext cx="600290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MRI image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presence of brain tumors.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deep learning image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visual and prediction output.</a:t>
            </a:r>
          </a:p>
        </p:txBody>
      </p:sp>
      <p:pic>
        <p:nvPicPr>
          <p:cNvPr id="7" name="Picture 6">
            <a:extLst>
              <a:ext uri="{FF2B5EF4-FFF2-40B4-BE49-F238E27FC236}">
                <a16:creationId xmlns:a16="http://schemas.microsoft.com/office/drawing/2014/main" id="{FF548D77-E7A5-665F-A207-0E551F072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999" y="1342663"/>
            <a:ext cx="4490977" cy="4435758"/>
          </a:xfrm>
          <a:prstGeom prst="rect">
            <a:avLst/>
          </a:prstGeom>
        </p:spPr>
      </p:pic>
    </p:spTree>
    <p:extLst>
      <p:ext uri="{BB962C8B-B14F-4D97-AF65-F5344CB8AC3E}">
        <p14:creationId xmlns:p14="http://schemas.microsoft.com/office/powerpoint/2010/main" val="3977956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32B6C-F389-451E-4D4A-0D0D434B1168}"/>
              </a:ext>
            </a:extLst>
          </p:cNvPr>
          <p:cNvSpPr>
            <a:spLocks noGrp="1"/>
          </p:cNvSpPr>
          <p:nvPr>
            <p:ph type="title"/>
          </p:nvPr>
        </p:nvSpPr>
        <p:spPr>
          <a:xfrm>
            <a:off x="1046544" y="1157469"/>
            <a:ext cx="5632048" cy="682906"/>
          </a:xfrm>
        </p:spPr>
        <p:txBody>
          <a:bodyPr>
            <a:noAutofit/>
          </a:bodyPr>
          <a:lstStyle/>
          <a:p>
            <a:r>
              <a:rPr lang="en-IN" sz="2800" b="1" dirty="0">
                <a:solidFill>
                  <a:schemeClr val="bg1"/>
                </a:solidFill>
                <a:latin typeface="Times New Roman" panose="02020603050405020304" pitchFamily="18" charset="0"/>
                <a:cs typeface="Times New Roman" panose="02020603050405020304" pitchFamily="18" charset="0"/>
              </a:rPr>
              <a:t>LUNG DISEASE DETECTION:</a:t>
            </a:r>
          </a:p>
        </p:txBody>
      </p:sp>
      <p:sp>
        <p:nvSpPr>
          <p:cNvPr id="3" name="Content Placeholder 2">
            <a:extLst>
              <a:ext uri="{FF2B5EF4-FFF2-40B4-BE49-F238E27FC236}">
                <a16:creationId xmlns:a16="http://schemas.microsoft.com/office/drawing/2014/main" id="{C7516335-B9D7-E68C-BC6D-BC1D119CC5BC}"/>
              </a:ext>
            </a:extLst>
          </p:cNvPr>
          <p:cNvSpPr>
            <a:spLocks noGrp="1"/>
          </p:cNvSpPr>
          <p:nvPr>
            <p:ph idx="1"/>
          </p:nvPr>
        </p:nvSpPr>
        <p:spPr>
          <a:xfrm>
            <a:off x="1046544" y="2139050"/>
            <a:ext cx="5099613" cy="3387464"/>
          </a:xfrm>
        </p:spPr>
        <p:txBody>
          <a:bodyPr/>
          <a:lstStyle/>
          <a:p>
            <a:r>
              <a:rPr lang="en-US" dirty="0">
                <a:latin typeface="Times New Roman" panose="02020603050405020304" pitchFamily="18" charset="0"/>
                <a:cs typeface="Times New Roman" panose="02020603050405020304" pitchFamily="18" charset="0"/>
              </a:rPr>
              <a:t>Lung disease screening using medical images.</a:t>
            </a:r>
          </a:p>
          <a:p>
            <a:r>
              <a:rPr lang="en-US" dirty="0">
                <a:latin typeface="Times New Roman" panose="02020603050405020304" pitchFamily="18" charset="0"/>
                <a:cs typeface="Times New Roman" panose="02020603050405020304" pitchFamily="18" charset="0"/>
              </a:rPr>
              <a:t>Detects lung cancer and influenza patterns.</a:t>
            </a:r>
          </a:p>
          <a:p>
            <a:r>
              <a:rPr lang="en-US" dirty="0">
                <a:latin typeface="Times New Roman" panose="02020603050405020304" pitchFamily="18" charset="0"/>
                <a:cs typeface="Times New Roman" panose="02020603050405020304" pitchFamily="18" charset="0"/>
              </a:rPr>
              <a:t>Machine learning-assisted diagnosis.</a:t>
            </a:r>
          </a:p>
          <a:p>
            <a:r>
              <a:rPr lang="en-US" dirty="0">
                <a:latin typeface="Times New Roman" panose="02020603050405020304" pitchFamily="18" charset="0"/>
                <a:cs typeface="Times New Roman" panose="02020603050405020304" pitchFamily="18" charset="0"/>
              </a:rPr>
              <a:t>Helps in early disease detection.</a:t>
            </a:r>
          </a:p>
        </p:txBody>
      </p:sp>
      <p:pic>
        <p:nvPicPr>
          <p:cNvPr id="6" name="Picture 5">
            <a:extLst>
              <a:ext uri="{FF2B5EF4-FFF2-40B4-BE49-F238E27FC236}">
                <a16:creationId xmlns:a16="http://schemas.microsoft.com/office/drawing/2014/main" id="{95EBF129-6F55-85AF-B6FD-11E47931DC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8592" y="1157469"/>
            <a:ext cx="4675208" cy="4456253"/>
          </a:xfrm>
          <a:prstGeom prst="rect">
            <a:avLst/>
          </a:prstGeom>
        </p:spPr>
      </p:pic>
    </p:spTree>
    <p:extLst>
      <p:ext uri="{BB962C8B-B14F-4D97-AF65-F5344CB8AC3E}">
        <p14:creationId xmlns:p14="http://schemas.microsoft.com/office/powerpoint/2010/main" val="2655881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C43C-199C-C61E-BD58-78A687B44D15}"/>
              </a:ext>
            </a:extLst>
          </p:cNvPr>
          <p:cNvSpPr>
            <a:spLocks noGrp="1"/>
          </p:cNvSpPr>
          <p:nvPr>
            <p:ph type="title"/>
          </p:nvPr>
        </p:nvSpPr>
        <p:spPr>
          <a:xfrm>
            <a:off x="838200" y="1655180"/>
            <a:ext cx="10515600" cy="1157468"/>
          </a:xfrm>
        </p:spPr>
        <p:txBody>
          <a:bodyPr/>
          <a:lstStyle/>
          <a:p>
            <a:r>
              <a:rPr lang="en-IN" b="1" dirty="0">
                <a:solidFill>
                  <a:schemeClr val="bg1"/>
                </a:solidFill>
                <a:latin typeface="Times New Roman" panose="02020603050405020304" pitchFamily="18" charset="0"/>
                <a:cs typeface="Times New Roman" panose="02020603050405020304" pitchFamily="18" charset="0"/>
              </a:rPr>
              <a:t>CATARACT DETECTION:</a:t>
            </a:r>
          </a:p>
        </p:txBody>
      </p:sp>
      <p:sp>
        <p:nvSpPr>
          <p:cNvPr id="3" name="Content Placeholder 2">
            <a:extLst>
              <a:ext uri="{FF2B5EF4-FFF2-40B4-BE49-F238E27FC236}">
                <a16:creationId xmlns:a16="http://schemas.microsoft.com/office/drawing/2014/main" id="{A0D35825-4815-0B9D-F438-6ACA12D9FD96}"/>
              </a:ext>
            </a:extLst>
          </p:cNvPr>
          <p:cNvSpPr>
            <a:spLocks noGrp="1"/>
          </p:cNvSpPr>
          <p:nvPr>
            <p:ph idx="1"/>
          </p:nvPr>
        </p:nvSpPr>
        <p:spPr>
          <a:xfrm>
            <a:off x="838200" y="3078865"/>
            <a:ext cx="5481577" cy="3098097"/>
          </a:xfrm>
        </p:spPr>
        <p:txBody>
          <a:bodyPr>
            <a:normAutofit/>
          </a:bodyPr>
          <a:lstStyle/>
          <a:p>
            <a:r>
              <a:rPr lang="en-US" dirty="0">
                <a:latin typeface="Times New Roman" panose="02020603050405020304" pitchFamily="18" charset="0"/>
                <a:cs typeface="Times New Roman" panose="02020603050405020304" pitchFamily="18" charset="0"/>
              </a:rPr>
              <a:t>Image-based eye screening system.</a:t>
            </a:r>
          </a:p>
          <a:p>
            <a:r>
              <a:rPr lang="en-US" dirty="0">
                <a:latin typeface="Times New Roman" panose="02020603050405020304" pitchFamily="18" charset="0"/>
                <a:cs typeface="Times New Roman" panose="02020603050405020304" pitchFamily="18" charset="0"/>
              </a:rPr>
              <a:t>Detects cataract presence.</a:t>
            </a:r>
          </a:p>
          <a:p>
            <a:r>
              <a:rPr lang="en-US" dirty="0">
                <a:latin typeface="Times New Roman" panose="02020603050405020304" pitchFamily="18" charset="0"/>
                <a:cs typeface="Times New Roman" panose="02020603050405020304" pitchFamily="18" charset="0"/>
              </a:rPr>
              <a:t>Supports early diagnosis and treatment planning.</a:t>
            </a:r>
          </a:p>
          <a:p>
            <a:r>
              <a:rPr lang="en-US" dirty="0">
                <a:latin typeface="Times New Roman" panose="02020603050405020304" pitchFamily="18" charset="0"/>
                <a:cs typeface="Times New Roman" panose="02020603050405020304" pitchFamily="18" charset="0"/>
              </a:rPr>
              <a:t>Simple image upload and result display</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C2D1438-6D29-6FDD-9F35-078CDF61D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9039" y="1655180"/>
            <a:ext cx="4224761" cy="4840314"/>
          </a:xfrm>
          <a:prstGeom prst="rect">
            <a:avLst/>
          </a:prstGeom>
        </p:spPr>
      </p:pic>
    </p:spTree>
    <p:extLst>
      <p:ext uri="{BB962C8B-B14F-4D97-AF65-F5344CB8AC3E}">
        <p14:creationId xmlns:p14="http://schemas.microsoft.com/office/powerpoint/2010/main" val="2288410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B2F6-1FD2-86B0-53BF-9D2CB6602C61}"/>
              </a:ext>
            </a:extLst>
          </p:cNvPr>
          <p:cNvSpPr>
            <a:spLocks noGrp="1"/>
          </p:cNvSpPr>
          <p:nvPr>
            <p:ph type="title"/>
          </p:nvPr>
        </p:nvSpPr>
        <p:spPr>
          <a:xfrm>
            <a:off x="1292242" y="311086"/>
            <a:ext cx="9905998" cy="867266"/>
          </a:xfrm>
        </p:spPr>
        <p:txBody>
          <a:bodyPr>
            <a:normAutofit/>
          </a:bodyPr>
          <a:lstStyle/>
          <a:p>
            <a:r>
              <a:rPr lang="en-IN" sz="3200" dirty="0">
                <a:solidFill>
                  <a:schemeClr val="bg2">
                    <a:lumMod val="75000"/>
                  </a:schemeClr>
                </a:solidFill>
                <a:latin typeface="Times New Roman" panose="02020603050405020304" pitchFamily="18" charset="0"/>
                <a:cs typeface="Times New Roman" panose="02020603050405020304" pitchFamily="18" charset="0"/>
              </a:rPr>
              <a:t>Core Functionality (</a:t>
            </a:r>
            <a:r>
              <a:rPr lang="en-US" sz="3200" dirty="0">
                <a:solidFill>
                  <a:schemeClr val="bg2"/>
                </a:solidFill>
                <a:latin typeface="Times New Roman" panose="02020603050405020304" pitchFamily="18" charset="0"/>
                <a:cs typeface="Times New Roman" panose="02020603050405020304" pitchFamily="18" charset="0"/>
              </a:rPr>
              <a:t>KEY</a:t>
            </a:r>
            <a:r>
              <a:rPr lang="en-US" sz="3200" dirty="0">
                <a:latin typeface="Times New Roman" panose="02020603050405020304" pitchFamily="18" charset="0"/>
                <a:cs typeface="Times New Roman" panose="02020603050405020304" pitchFamily="18" charset="0"/>
              </a:rPr>
              <a:t> </a:t>
            </a:r>
            <a:r>
              <a:rPr lang="en-US" sz="3200" dirty="0">
                <a:solidFill>
                  <a:schemeClr val="bg2"/>
                </a:solidFill>
                <a:latin typeface="Times New Roman" panose="02020603050405020304" pitchFamily="18" charset="0"/>
                <a:cs typeface="Times New Roman" panose="02020603050405020304" pitchFamily="18" charset="0"/>
              </a:rPr>
              <a:t>FEATURES)</a:t>
            </a:r>
            <a:endParaRPr lang="en-IN" sz="3200" dirty="0">
              <a:solidFill>
                <a:schemeClr val="bg2">
                  <a:lumMod val="7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8C42EC1-C254-4C02-DF67-D71BE437FF40}"/>
              </a:ext>
            </a:extLst>
          </p:cNvPr>
          <p:cNvSpPr>
            <a:spLocks noGrp="1" noChangeArrowheads="1"/>
          </p:cNvSpPr>
          <p:nvPr>
            <p:ph idx="1"/>
          </p:nvPr>
        </p:nvSpPr>
        <p:spPr bwMode="auto">
          <a:xfrm>
            <a:off x="1216829" y="1109832"/>
            <a:ext cx="9905998" cy="5759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Symptom Analysis: </a:t>
            </a:r>
            <a:r>
              <a:rPr lang="en-IN" sz="2000" dirty="0">
                <a:latin typeface="Times New Roman" panose="02020603050405020304" pitchFamily="18" charset="0"/>
                <a:cs typeface="Times New Roman" panose="02020603050405020304" pitchFamily="18" charset="0"/>
              </a:rPr>
              <a:t>via text input.</a:t>
            </a:r>
          </a:p>
          <a:p>
            <a:r>
              <a:rPr lang="en-IN" sz="2000" b="1" dirty="0">
                <a:latin typeface="Times New Roman" panose="02020603050405020304" pitchFamily="18" charset="0"/>
                <a:cs typeface="Times New Roman" panose="02020603050405020304" pitchFamily="18" charset="0"/>
              </a:rPr>
              <a:t>Medical Image Analysis: </a:t>
            </a:r>
            <a:r>
              <a:rPr lang="en-IN" sz="2000" dirty="0">
                <a:latin typeface="Times New Roman" panose="02020603050405020304" pitchFamily="18" charset="0"/>
                <a:cs typeface="Times New Roman" panose="02020603050405020304" pitchFamily="18" charset="0"/>
              </a:rPr>
              <a:t>uploaded images / live webcam.</a:t>
            </a:r>
          </a:p>
          <a:p>
            <a:r>
              <a:rPr lang="en-IN" sz="2000" b="1" dirty="0">
                <a:latin typeface="Times New Roman" panose="02020603050405020304" pitchFamily="18" charset="0"/>
                <a:cs typeface="Times New Roman" panose="02020603050405020304" pitchFamily="18" charset="0"/>
              </a:rPr>
              <a:t>Treatment Suggestions &amp; Guidance</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24/7 Automated Healthcare Support</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Video Consultation: </a:t>
            </a:r>
            <a:r>
              <a:rPr lang="en-US" altLang="en-US" sz="2000" dirty="0">
                <a:latin typeface="Times New Roman" panose="02020603050405020304" pitchFamily="18" charset="0"/>
                <a:cs typeface="Times New Roman" panose="02020603050405020304" pitchFamily="18" charset="0"/>
              </a:rPr>
              <a:t>Enables secure, high-quality virtual consultations between patients and healthcare providers for real-time interaction regardless of location.</a:t>
            </a:r>
          </a:p>
          <a:p>
            <a:r>
              <a:rPr lang="en-US" altLang="en-US" sz="2000" b="1" dirty="0">
                <a:latin typeface="Times New Roman" panose="02020603050405020304" pitchFamily="18" charset="0"/>
                <a:cs typeface="Times New Roman" panose="02020603050405020304" pitchFamily="18" charset="0"/>
              </a:rPr>
              <a:t>Image Classification for X-Ray Disease Detection:</a:t>
            </a:r>
            <a:r>
              <a:rPr lang="en-US" altLang="en-US" sz="2000" dirty="0">
                <a:latin typeface="Times New Roman" panose="02020603050405020304" pitchFamily="18" charset="0"/>
                <a:cs typeface="Times New Roman" panose="02020603050405020304" pitchFamily="18" charset="0"/>
              </a:rPr>
              <a:t> Utilizes AI-powered image recognition to analyze X-ray images and assist in early detection of diseases such as pneumonia, tuberculosis, or fractures, enhancing diagnostic accuracy and speeding up treatment decisions.</a:t>
            </a:r>
          </a:p>
          <a:p>
            <a:r>
              <a:rPr lang="en-IN" sz="2000" b="1" dirty="0">
                <a:latin typeface="Times New Roman" panose="02020603050405020304" pitchFamily="18" charset="0"/>
                <a:cs typeface="Times New Roman" panose="02020603050405020304" pitchFamily="18" charset="0"/>
              </a:rPr>
              <a:t>Appointment Booking :</a:t>
            </a:r>
            <a:r>
              <a:rPr lang="en-US" altLang="en-US" sz="2000" dirty="0">
                <a:latin typeface="Times New Roman" panose="02020603050405020304" pitchFamily="18" charset="0"/>
                <a:cs typeface="Times New Roman" panose="02020603050405020304" pitchFamily="18" charset="0"/>
              </a:rPr>
              <a:t>Allows patients to easily schedule, reschedule, or cancel appointments through an intuitive interface, improving convenience and reducing wait times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695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6C63-3618-D2AF-0663-08F611F409F5}"/>
              </a:ext>
            </a:extLst>
          </p:cNvPr>
          <p:cNvSpPr>
            <a:spLocks noGrp="1"/>
          </p:cNvSpPr>
          <p:nvPr>
            <p:ph type="title"/>
          </p:nvPr>
        </p:nvSpPr>
        <p:spPr>
          <a:xfrm>
            <a:off x="1234125" y="1201381"/>
            <a:ext cx="10515600" cy="831164"/>
          </a:xfrm>
        </p:spPr>
        <p:txBody>
          <a:bodyPr/>
          <a:lstStyle/>
          <a:p>
            <a:r>
              <a:rPr lang="en-IN" b="1" dirty="0">
                <a:solidFill>
                  <a:schemeClr val="bg1"/>
                </a:solidFill>
                <a:latin typeface="Times New Roman" panose="02020603050405020304" pitchFamily="18" charset="0"/>
                <a:cs typeface="Times New Roman" panose="02020603050405020304" pitchFamily="18" charset="0"/>
              </a:rPr>
              <a:t>FUTURE ENHANCEMENTS:</a:t>
            </a:r>
          </a:p>
        </p:txBody>
      </p:sp>
      <p:sp>
        <p:nvSpPr>
          <p:cNvPr id="5" name="Rectangle 1">
            <a:extLst>
              <a:ext uri="{FF2B5EF4-FFF2-40B4-BE49-F238E27FC236}">
                <a16:creationId xmlns:a16="http://schemas.microsoft.com/office/drawing/2014/main" id="{DFDFFBD3-DBDD-8855-063F-DBC27BB07652}"/>
              </a:ext>
            </a:extLst>
          </p:cNvPr>
          <p:cNvSpPr>
            <a:spLocks noGrp="1" noChangeArrowheads="1"/>
          </p:cNvSpPr>
          <p:nvPr>
            <p:ph idx="1"/>
          </p:nvPr>
        </p:nvSpPr>
        <p:spPr bwMode="auto">
          <a:xfrm>
            <a:off x="1330173" y="2305617"/>
            <a:ext cx="1014617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mobile applications for Android and iOS platforms.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on cloud platforms for better scalability and availability.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IoT-based health monitoring devices.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 of more AI models for detecting multiple diseases.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analytics and real-time health monitoring features.</a:t>
            </a:r>
          </a:p>
        </p:txBody>
      </p:sp>
    </p:spTree>
    <p:extLst>
      <p:ext uri="{BB962C8B-B14F-4D97-AF65-F5344CB8AC3E}">
        <p14:creationId xmlns:p14="http://schemas.microsoft.com/office/powerpoint/2010/main" val="3862741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94BFB-05E8-86CA-08D9-608DD416F74C}"/>
              </a:ext>
            </a:extLst>
          </p:cNvPr>
          <p:cNvSpPr>
            <a:spLocks noGrp="1"/>
          </p:cNvSpPr>
          <p:nvPr>
            <p:ph type="title"/>
          </p:nvPr>
        </p:nvSpPr>
        <p:spPr/>
        <p:txBody>
          <a:bodyPr/>
          <a:lstStyle/>
          <a:p>
            <a:r>
              <a:rPr lang="en-US" dirty="0">
                <a:solidFill>
                  <a:schemeClr val="bg2">
                    <a:lumMod val="75000"/>
                  </a:schemeClr>
                </a:solidFill>
                <a:latin typeface="Times New Roman" panose="02020603050405020304" pitchFamily="18" charset="0"/>
                <a:cs typeface="Times New Roman" panose="02020603050405020304" pitchFamily="18" charset="0"/>
              </a:rPr>
              <a:t>CONCLUSION</a:t>
            </a:r>
            <a:endParaRPr lang="en-IN" dirty="0">
              <a:solidFill>
                <a:schemeClr val="bg2">
                  <a:lumMod val="75000"/>
                </a:schemeClr>
              </a:solidFill>
            </a:endParaRPr>
          </a:p>
        </p:txBody>
      </p:sp>
      <p:sp>
        <p:nvSpPr>
          <p:cNvPr id="3" name="Content Placeholder 2">
            <a:extLst>
              <a:ext uri="{FF2B5EF4-FFF2-40B4-BE49-F238E27FC236}">
                <a16:creationId xmlns:a16="http://schemas.microsoft.com/office/drawing/2014/main" id="{770C8F51-6505-E652-5172-1EE1A5D854C3}"/>
              </a:ext>
            </a:extLst>
          </p:cNvPr>
          <p:cNvSpPr>
            <a:spLocks noGrp="1"/>
          </p:cNvSpPr>
          <p:nvPr>
            <p:ph idx="1"/>
          </p:nvPr>
        </p:nvSpPr>
        <p:spPr>
          <a:xfrm>
            <a:off x="1141413" y="1976110"/>
            <a:ext cx="9905999" cy="3541714"/>
          </a:xfrm>
        </p:spPr>
        <p:txBody>
          <a:bodyPr/>
          <a:lstStyle/>
          <a:p>
            <a:pPr marL="0" indent="0" algn="just">
              <a:buNone/>
            </a:pPr>
            <a:r>
              <a:rPr lang="en-US" dirty="0">
                <a:latin typeface="Times New Roman" panose="02020603050405020304" pitchFamily="18" charset="0"/>
                <a:cs typeface="Times New Roman" panose="02020603050405020304" pitchFamily="18" charset="0"/>
              </a:rPr>
              <a:t>The proposed AI Medical Chatbot is a step towards accessible, intelligent, and real-time healthcare support. Unlike existing systems, it integrates image recognition + NLP-based symptom analysis, making it more reliable and user-friendly. While not a replacement for medical professionals, it serves as a preliminary healthcare assistant, reduces the workload of doctors, and empowers patients with instant guidance, especially in regions with limited medical infrastructure.</a:t>
            </a:r>
          </a:p>
          <a:p>
            <a:pPr marL="0" indent="0" algn="just">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591341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6632" y="302914"/>
            <a:ext cx="9945277" cy="646331"/>
          </a:xfrm>
          <a:prstGeom prst="rect">
            <a:avLst/>
          </a:prstGeom>
          <a:noFill/>
        </p:spPr>
        <p:txBody>
          <a:bodyPr wrap="square" rtlCol="0">
            <a:spAutoFit/>
          </a:bodyPr>
          <a:lstStyle/>
          <a:p>
            <a:r>
              <a:rPr lang="en-US" sz="3600" dirty="0">
                <a:solidFill>
                  <a:srgbClr val="002060"/>
                </a:solidFill>
                <a:latin typeface="Times New Roman" panose="02020603050405020304" pitchFamily="18" charset="0"/>
                <a:cs typeface="Times New Roman" panose="02020603050405020304" pitchFamily="18" charset="0"/>
              </a:rPr>
              <a:t>REFERENCES</a:t>
            </a:r>
            <a:endParaRPr lang="en-IN" sz="3600" dirty="0">
              <a:solidFill>
                <a:srgbClr val="002060"/>
              </a:solidFill>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899811" y="1032291"/>
            <a:ext cx="10392377"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 Chaturvedi, S. B. Chauhan, and I. Singh, “The impact of artificial intelligence on remote healthcare: Enhancing patient engagement, connectivity, and overcoming challenges,” </a:t>
            </a:r>
            <a:r>
              <a:rPr lang="en-US" dirty="0" err="1">
                <a:latin typeface="Times New Roman" panose="02020603050405020304" pitchFamily="18" charset="0"/>
                <a:cs typeface="Times New Roman" panose="02020603050405020304" pitchFamily="18" charset="0"/>
              </a:rPr>
              <a:t>Intell</a:t>
            </a:r>
            <a:r>
              <a:rPr lang="en-US" dirty="0">
                <a:latin typeface="Times New Roman" panose="02020603050405020304" pitchFamily="18" charset="0"/>
                <a:cs typeface="Times New Roman" panose="02020603050405020304" pitchFamily="18" charset="0"/>
              </a:rPr>
              <a:t>. Pharm., vol. xxx, no. xxx, pp. 2025. Available: https://doi.org/10.1016/j.ipha.2024.12.003 </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 Dave and N. Patel, “Artificial Intelligence in Healthcare and Education,” British Dental Journal, vol. 234, no. 10, pp. 760–763, May 2023.</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 Guo and Y. Chen, “Can AI replace human physicians? Patient-centered evaluations of medical consultations from functional, relational, and emotional perspectives,” J. Med. Internet Res., vol. 27, p. e66760, 2025.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10.2196/66760</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 B. </a:t>
            </a:r>
            <a:r>
              <a:rPr lang="en-US" dirty="0" err="1">
                <a:latin typeface="Times New Roman" panose="02020603050405020304" pitchFamily="18" charset="0"/>
                <a:cs typeface="Times New Roman" panose="02020603050405020304" pitchFamily="18" charset="0"/>
              </a:rPr>
              <a:t>Olawade</a:t>
            </a:r>
            <a:r>
              <a:rPr lang="en-US" dirty="0">
                <a:latin typeface="Times New Roman" panose="02020603050405020304" pitchFamily="18" charset="0"/>
                <a:cs typeface="Times New Roman" panose="02020603050405020304" pitchFamily="18" charset="0"/>
              </a:rPr>
              <a:t>, A. C. David-</a:t>
            </a:r>
            <a:r>
              <a:rPr lang="en-US" dirty="0" err="1">
                <a:latin typeface="Times New Roman" panose="02020603050405020304" pitchFamily="18" charset="0"/>
                <a:cs typeface="Times New Roman" panose="02020603050405020304" pitchFamily="18" charset="0"/>
              </a:rPr>
              <a:t>Olawade</a:t>
            </a:r>
            <a:r>
              <a:rPr lang="en-US" dirty="0">
                <a:latin typeface="Times New Roman" panose="02020603050405020304" pitchFamily="18" charset="0"/>
                <a:cs typeface="Times New Roman" panose="02020603050405020304" pitchFamily="18" charset="0"/>
              </a:rPr>
              <a:t>, O. Z. Wada, A. J. </a:t>
            </a:r>
            <a:r>
              <a:rPr lang="en-US" dirty="0" err="1">
                <a:latin typeface="Times New Roman" panose="02020603050405020304" pitchFamily="18" charset="0"/>
                <a:cs typeface="Times New Roman" panose="02020603050405020304" pitchFamily="18" charset="0"/>
              </a:rPr>
              <a:t>Asaolu</a:t>
            </a:r>
            <a:r>
              <a:rPr lang="en-US" dirty="0">
                <a:latin typeface="Times New Roman" panose="02020603050405020304" pitchFamily="18" charset="0"/>
                <a:cs typeface="Times New Roman" panose="02020603050405020304" pitchFamily="18" charset="0"/>
              </a:rPr>
              <a:t>, T. </a:t>
            </a:r>
            <a:r>
              <a:rPr lang="en-US" dirty="0" err="1">
                <a:latin typeface="Times New Roman" panose="02020603050405020304" pitchFamily="18" charset="0"/>
                <a:cs typeface="Times New Roman" panose="02020603050405020304" pitchFamily="18" charset="0"/>
              </a:rPr>
              <a:t>Adereni</a:t>
            </a:r>
            <a:r>
              <a:rPr lang="en-US" dirty="0">
                <a:latin typeface="Times New Roman" panose="02020603050405020304" pitchFamily="18" charset="0"/>
                <a:cs typeface="Times New Roman" panose="02020603050405020304" pitchFamily="18" charset="0"/>
              </a:rPr>
              <a:t>, and J. Ling, “Artificial intelligence in healthcare delivery: Prospects and pitfalls,” J. Med. Surg. Public Health, vol. 3, p. 100108,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10.1016/j.glmedi.2024.100108</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 R. </a:t>
            </a:r>
            <a:r>
              <a:rPr lang="en-US" dirty="0" err="1">
                <a:latin typeface="Times New Roman" panose="02020603050405020304" pitchFamily="18" charset="0"/>
                <a:cs typeface="Times New Roman" panose="02020603050405020304" pitchFamily="18" charset="0"/>
              </a:rPr>
              <a:t>Kolbinger</a:t>
            </a:r>
            <a:r>
              <a:rPr lang="en-US" dirty="0">
                <a:latin typeface="Times New Roman" panose="02020603050405020304" pitchFamily="18" charset="0"/>
                <a:cs typeface="Times New Roman" panose="02020603050405020304" pitchFamily="18" charset="0"/>
              </a:rPr>
              <a:t>, G. P. Veldhuizen, J. Zhu, D. Truhn, and J. N. Kather, “Reporting guidelines in medical artificial intelligence: a systematic review and meta-analysis,” Communications Medicine, vol. 4, no. 71, pp. 1–13,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10.1038/s43856-024-00492-0.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9848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1EE7D9-48B8-EE24-B0A7-DC70511B49E3}"/>
              </a:ext>
            </a:extLst>
          </p:cNvPr>
          <p:cNvSpPr>
            <a:spLocks noGrp="1"/>
          </p:cNvSpPr>
          <p:nvPr>
            <p:ph idx="1"/>
          </p:nvPr>
        </p:nvSpPr>
        <p:spPr>
          <a:xfrm>
            <a:off x="830328" y="2270107"/>
            <a:ext cx="9905999" cy="1500616"/>
          </a:xfrm>
        </p:spPr>
        <p:txBody>
          <a:bodyPr>
            <a:normAutofit lnSpcReduction="10000"/>
          </a:bodyPr>
          <a:lstStyle/>
          <a:p>
            <a:pPr marL="0" indent="0" algn="ctr">
              <a:buNone/>
            </a:pPr>
            <a:r>
              <a:rPr lang="en-US" sz="8800" b="1" dirty="0">
                <a:solidFill>
                  <a:schemeClr val="bg2">
                    <a:lumMod val="75000"/>
                  </a:schemeClr>
                </a:solidFill>
                <a:latin typeface="Times New Roman" panose="02020603050405020304" pitchFamily="18" charset="0"/>
                <a:cs typeface="Times New Roman" panose="02020603050405020304" pitchFamily="18" charset="0"/>
              </a:rPr>
              <a:t>THANK YOU !</a:t>
            </a:r>
            <a:endParaRPr lang="en-IN" sz="8800" b="1" dirty="0">
              <a:solidFill>
                <a:schemeClr val="bg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9475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294</TotalTime>
  <Words>1695</Words>
  <Application>Microsoft Office PowerPoint</Application>
  <PresentationFormat>Widescreen</PresentationFormat>
  <Paragraphs>128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Times New Roman</vt:lpstr>
      <vt:lpstr>Tw Cen MT</vt:lpstr>
      <vt:lpstr>Circuit</vt:lpstr>
      <vt:lpstr>Team details</vt:lpstr>
      <vt:lpstr>Problem Statement</vt:lpstr>
      <vt:lpstr>ABSTRACT</vt:lpstr>
      <vt:lpstr>Objective</vt:lpstr>
      <vt:lpstr>PowerPoint Presentation</vt:lpstr>
      <vt:lpstr>PowerPoint Presentation</vt:lpstr>
      <vt:lpstr>Technology Stack</vt:lpstr>
      <vt:lpstr>System architecture</vt:lpstr>
      <vt:lpstr>SYSTEM USERS:</vt:lpstr>
      <vt:lpstr>DOCTOR DASHBOARD:</vt:lpstr>
      <vt:lpstr>BRAIN TUMOR DETECTION:</vt:lpstr>
      <vt:lpstr>LUNG DISEASE DETECTION:</vt:lpstr>
      <vt:lpstr>CATARACT DETECTION:</vt:lpstr>
      <vt:lpstr>Core Functionality (KEY FEATURES)</vt:lpstr>
      <vt:lpstr>FUTURE ENHANCEMENTS:</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vangalasaipramod@gmail.com</dc:creator>
  <cp:lastModifiedBy>GUDIPATI MAHESH</cp:lastModifiedBy>
  <cp:revision>8</cp:revision>
  <dcterms:created xsi:type="dcterms:W3CDTF">2025-09-04T05:29:57Z</dcterms:created>
  <dcterms:modified xsi:type="dcterms:W3CDTF">2025-12-18T09:20:00Z</dcterms:modified>
</cp:coreProperties>
</file>